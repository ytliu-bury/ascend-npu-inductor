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36b86b314041ea" /><Relationship Type="http://schemas.openxmlformats.org/officeDocument/2006/relationships/extended-properties" Target="/docProps/app.xml" Id="Rf05904802dc740a2" /><Relationship Type="http://schemas.openxmlformats.org/officeDocument/2006/relationships/officeDocument" Target="/ppt/presentation.xml" Id="Redaad4690ebc41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4c0c3a21d34561"/>
  </p:sldMasterIdLst>
  <p:notesMasterIdLst>
    <p:notesMasterId xmlns:r="http://schemas.openxmlformats.org/officeDocument/2006/relationships" r:id="R2801a6ad034447fb"/>
  </p:notesMasterIdLst>
  <p:sldIdLst>
    <p:sldId xmlns:r="http://schemas.openxmlformats.org/officeDocument/2006/relationships" id="256" r:id="R1d1ef1900a334611"/>
    <p:sldId xmlns:r="http://schemas.openxmlformats.org/officeDocument/2006/relationships" id="257" r:id="Rcfcb1d8564b64c52"/>
    <p:sldId xmlns:r="http://schemas.openxmlformats.org/officeDocument/2006/relationships" id="258" r:id="R516e81ecd28245e9"/>
    <p:sldId xmlns:r="http://schemas.openxmlformats.org/officeDocument/2006/relationships" id="259" r:id="R89472349023848ad"/>
    <p:sldId xmlns:r="http://schemas.openxmlformats.org/officeDocument/2006/relationships" id="260" r:id="Rd60826e6f9c14d78"/>
    <p:sldId xmlns:r="http://schemas.openxmlformats.org/officeDocument/2006/relationships" id="261" r:id="R79eb31271868495c"/>
    <p:sldId xmlns:r="http://schemas.openxmlformats.org/officeDocument/2006/relationships" id="262" r:id="Rf23e46f6d76f4a3e"/>
    <p:sldId xmlns:r="http://schemas.openxmlformats.org/officeDocument/2006/relationships" id="263" r:id="R1b92414462e04b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d45d27c85f46c8" /><Relationship Type="http://schemas.openxmlformats.org/officeDocument/2006/relationships/slideMaster" Target="/ppt/slideMasters/slideMaster1.xml" Id="R674c0c3a21d34561" /><Relationship Type="http://schemas.openxmlformats.org/officeDocument/2006/relationships/notesMaster" Target="/ppt/notesMasters/notesMaster1.xml" Id="R2801a6ad034447fb" /><Relationship Type="http://schemas.openxmlformats.org/officeDocument/2006/relationships/presProps" Target="/ppt/presProps.xml" Id="R5167247a26364c88" /><Relationship Type="http://schemas.openxmlformats.org/officeDocument/2006/relationships/tableStyles" Target="/ppt/tableStyles.xml" Id="Re407e4d8992b4d49" /><Relationship Type="http://schemas.openxmlformats.org/officeDocument/2006/relationships/slide" Target="/ppt/slides/slide1.xml" Id="R1d1ef1900a334611" /><Relationship Type="http://schemas.openxmlformats.org/officeDocument/2006/relationships/slide" Target="/ppt/slides/slide2.xml" Id="Rcfcb1d8564b64c52" /><Relationship Type="http://schemas.openxmlformats.org/officeDocument/2006/relationships/slide" Target="/ppt/slides/slide3.xml" Id="R516e81ecd28245e9" /><Relationship Type="http://schemas.openxmlformats.org/officeDocument/2006/relationships/slide" Target="/ppt/slides/slide4.xml" Id="R89472349023848ad" /><Relationship Type="http://schemas.openxmlformats.org/officeDocument/2006/relationships/slide" Target="/ppt/slides/slide5.xml" Id="Rd60826e6f9c14d78" /><Relationship Type="http://schemas.openxmlformats.org/officeDocument/2006/relationships/slide" Target="/ppt/slides/slide6.xml" Id="R79eb31271868495c" /><Relationship Type="http://schemas.openxmlformats.org/officeDocument/2006/relationships/slide" Target="/ppt/slides/slide7.xml" Id="Rf23e46f6d76f4a3e" /><Relationship Type="http://schemas.openxmlformats.org/officeDocument/2006/relationships/slide" Target="/ppt/slides/slide8.xml" Id="R1b92414462e04b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c22370364b49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2c3a6847ed4add" /><Relationship Type="http://schemas.openxmlformats.org/officeDocument/2006/relationships/notesMaster" Target="/ppt/notesMasters/notesMaster1.xml" Id="R46659701e71649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25d27e07d84c5e" /><Relationship Type="http://schemas.openxmlformats.org/officeDocument/2006/relationships/notesMaster" Target="/ppt/notesMasters/notesMaster1.xml" Id="Rffebc5b14fba43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520dea5f564b57" /><Relationship Type="http://schemas.openxmlformats.org/officeDocument/2006/relationships/notesMaster" Target="/ppt/notesMasters/notesMaster1.xml" Id="R57cbd011c08049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42bb5a85c742c5" /><Relationship Type="http://schemas.openxmlformats.org/officeDocument/2006/relationships/notesMaster" Target="/ppt/notesMasters/notesMaster1.xml" Id="Rb4888369efb84a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56a5ce56364372" /><Relationship Type="http://schemas.openxmlformats.org/officeDocument/2006/relationships/notesMaster" Target="/ppt/notesMasters/notesMaster1.xml" Id="R38a6a6e1084543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24e74a6e994014" /><Relationship Type="http://schemas.openxmlformats.org/officeDocument/2006/relationships/notesMaster" Target="/ppt/notesMasters/notesMaster1.xml" Id="R156657fc094f4d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2ce5f37ad74b62" /><Relationship Type="http://schemas.openxmlformats.org/officeDocument/2006/relationships/notesMaster" Target="/ppt/notesMasters/notesMaster1.xml" Id="R18aabf7a533947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dfd7b00e9648da" /><Relationship Type="http://schemas.openxmlformats.org/officeDocument/2006/relationships/notesMaster" Target="/ppt/notesMasters/notesMaster1.xml" Id="R1ed406dd600147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开场约 30 秒：说明这不是单次跑分，而是一套面向昇腾 NPU 的模型看护与问题闭环。汇报重点放在覆盖、流水、问题定位和可复用能力。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秒：先讲清项目目标。我们的价值不只是把 pass 数做大，而是让失败原因可分类、让复测可复现、让性能数据能持续积累。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50 秒：解释为什么不是只有一个模型列表。106 个是社区稳定看护口径，154 个是内部优化和问题发现口径；daily 与 weekly 是运行节奏的切分，不改变模型配置的来源。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55 秒：沿着图从左到右讲。特别强调 profile 隔离、日期+版本维度和错误摘要，这是后来解决多版本并行与看板可读性的关键。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55 秒：说明我们不是把所有模型一套参数跑到底。社区模型配置决定基础口径，NPU 侧只对设备差异和后端特性做显式适配，便于审计和回归。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60 秒：这里讲具体工程产出。重点是把过去靠记忆的特化、缓存和报错判断变成文件化、可重复的能力。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55 秒：用两组数字说明这已经不是手工试验。154 模型和 524 case 是 weekly 规模口径，daily40 是快速迭代口径；2.15 侧也已经有独立环境和后端 smoke 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结尾约 45 秒：收束到四个方向。强调后续并不是无止境扩大模型数，而是让社区对齐、版本隔离、失败分类和看板发布变成稳定机制。可留 1 分钟答疑。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2cd50b0ca4f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0be48b2f842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35eeba18347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cb94bb70e4b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d29b4b45d49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f8c9207854c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BFE051-B954-475C-8373-E4C930493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BF0729-646F-40DA-B722-654ECE79A6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0A9510-C216-475F-A9C5-4784D1E01D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016275-64A7-44D3-9FD1-A3E5B79EC4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F27C6B-554D-4ADA-8294-A0AFACC405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2215DE-8812-4FD0-8130-1D9C8782DB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77D957-E194-41C9-9F2B-832CD5DE7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DE82EA6-C500-4744-9E6F-D5243FFFBE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5E074E-16A1-4327-9874-282FD22C8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3C29E3-94EC-42E4-A020-D5606DBF0C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f725592f8248ff" /><Relationship Type="http://schemas.openxmlformats.org/officeDocument/2006/relationships/slideLayout" Target="/ppt/slideLayouts/slideLayout1.xml" Id="Rfc94177800ed428a" /><Relationship Type="http://schemas.openxmlformats.org/officeDocument/2006/relationships/slideLayout" Target="/ppt/slideLayouts/slideLayout2.xml" Id="R293ac139fef94536" /><Relationship Type="http://schemas.openxmlformats.org/officeDocument/2006/relationships/slideLayout" Target="/ppt/slideLayouts/slideLayout3.xml" Id="R5b19f0a581be4b83" /><Relationship Type="http://schemas.openxmlformats.org/officeDocument/2006/relationships/slideLayout" Target="/ppt/slideLayouts/slideLayout4.xml" Id="R5be8d09be3a044df" /><Relationship Type="http://schemas.openxmlformats.org/officeDocument/2006/relationships/slideLayout" Target="/ppt/slideLayouts/slideLayout5.xml" Id="Rf9419bd7af5e4c35" /><Relationship Type="http://schemas.openxmlformats.org/officeDocument/2006/relationships/slideLayout" Target="/ppt/slideLayouts/slideLayout6.xml" Id="Rfeeda08c3f5341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94177800ed428a"/>
    <p:sldLayoutId xmlns:r="http://schemas.openxmlformats.org/officeDocument/2006/relationships" id="2147483650" r:id="R293ac139fef94536"/>
    <p:sldLayoutId xmlns:r="http://schemas.openxmlformats.org/officeDocument/2006/relationships" id="2147483651" r:id="R5b19f0a581be4b83"/>
    <p:sldLayoutId xmlns:r="http://schemas.openxmlformats.org/officeDocument/2006/relationships" id="2147483652" r:id="R5be8d09be3a044df"/>
    <p:sldLayoutId xmlns:r="http://schemas.openxmlformats.org/officeDocument/2006/relationships" id="2147483653" r:id="Rf9419bd7af5e4c35"/>
    <p:sldLayoutId xmlns:r="http://schemas.openxmlformats.org/officeDocument/2006/relationships" id="2147483654" r:id="Rfeeda08c3f5341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71688f1f049ba" /><Relationship Type="http://schemas.openxmlformats.org/officeDocument/2006/relationships/notesSlide" Target="/ppt/notesSlides/notesSlide1.xml" Id="R448514764c2140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a2ad26e524830" /><Relationship Type="http://schemas.openxmlformats.org/officeDocument/2006/relationships/notesSlide" Target="/ppt/notesSlides/notesSlide2.xml" Id="R62d31d5bd25245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8ff637b684f0b" /><Relationship Type="http://schemas.openxmlformats.org/officeDocument/2006/relationships/notesSlide" Target="/ppt/notesSlides/notesSlide3.xml" Id="R536206f09f3346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43f9af6e5415e" /><Relationship Type="http://schemas.openxmlformats.org/officeDocument/2006/relationships/notesSlide" Target="/ppt/notesSlides/notesSlide4.xml" Id="Red1f9bcd9fbb44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af96ef1314642" /><Relationship Type="http://schemas.openxmlformats.org/officeDocument/2006/relationships/notesSlide" Target="/ppt/notesSlides/notesSlide5.xml" Id="Rf6f6cf9fc1434b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722b427ce4005" /><Relationship Type="http://schemas.openxmlformats.org/officeDocument/2006/relationships/notesSlide" Target="/ppt/notesSlides/notesSlide6.xml" Id="Ra1a1cfa51bc744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e8a7ac0794197" /><Relationship Type="http://schemas.openxmlformats.org/officeDocument/2006/relationships/notesSlide" Target="/ppt/notesSlides/notesSlide7.xml" Id="R76a10b715a4f49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f87d9c725b4c66" /><Relationship Type="http://schemas.openxmlformats.org/officeDocument/2006/relationships/notesSlide" Target="/ppt/notesSlides/notesSlide8.xml" Id="R8b4c51b4a72a49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BBCE0-1750-4A09-A1B8-2C51471A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5BAF7-E85C-472E-8683-9B3924FE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Benchmark Observatory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49ED3-438F-4853-BEC3-7A9EDFD7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BDE8E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BDE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BDE8E7"/>
                </a:solidFill>
                <a:latin typeface="Microsoft YaHei"/>
                <a:ea typeface="Microsoft YaHei"/>
                <a:cs typeface="Microsoft YaHei"/>
              </a:rPr>
              <a:t>Ascend NPU 模型看护、性能基线与流水建设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F2CBB-D10B-4D13-97AE-84ACEDF4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从模型可复现，到问题可定位，再到数据可持续发布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32EE4-9772-4D2E-9C60-1BAC4EE5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790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F8781-B0C2-4334-BA17-7C5BAF6E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答辩汇报 · 6–8 分钟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A4A75-61C1-40EB-8222-6CD10347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B6C8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B6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B6C8D8"/>
                </a:solidFill>
                <a:latin typeface="Microsoft YaHei"/>
                <a:ea typeface="Microsoft YaHei"/>
                <a:cs typeface="Microsoft YaHei"/>
              </a:rPr>
              <a:t>项目范围：TorchBench / HuggingFace / TIMM · DVM / Triton-Experimental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912A9-CE6C-4D9D-AF68-3D9F92A1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791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B6C8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B6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B6C8D8"/>
                </a:solidFill>
                <a:latin typeface="Microsoft YaHei"/>
                <a:ea typeface="Microsoft YaHei"/>
                <a:cs typeface="Microsoft YaHei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883459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60D3D-BEE2-4156-98D1-37BEB5F9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01 · 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3384B-EFDE-4A6E-8234-50E16E2E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把一次性跑模型，变成持续可复现的工程能力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7C455-219F-4F33-8059-FCA47781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对齐社区口径，同时保留 NPU 后端自己的特化空间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3BA28-D747-43D0-B589-45BAE938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1A329-262D-4670-8031-82F06C3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333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854FE-BC3C-4A52-81D2-ACF597BB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7DA5D-7D12-4A27-9AB1-BC6868E1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社区对齐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39AF3-A00F-4A2D-B12F-4E02597D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以社区 benchmark 与 YAML 元数据为参考，区分 train / inference、特化模型和有效性口径。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57429-C87F-4817-AD33-A7B6C72F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333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DAB84-0331-4EAA-A946-F1617184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D05F7-1A8E-408B-A83C-ED958399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后端看护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3C014-2062-49B0-BD1F-D0908871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04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覆盖 DVM 与 Triton-Experimental，支持 E2E、OP、精度和失败原因的统一记录。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65F91-A307-4D1D-9659-4102E533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33337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AFE1E-CE5E-463D-BE08-9E220F94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3333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C63C3-C419-4BFA-BA0D-C5CA6449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工程闭环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B1884-4AA1-46BD-909C-46037265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模型配置 → 环境隔离 → 执行日志 → 轻量 profile → JSON → 看板，形成可追踪链路。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D08C4-75EC-4584-840B-7167B512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核心原则：后端问题和非后端问题分开看；数据缺失、网络、OOM、超时、编译、精度失败分别处理。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1956A-8520-4F64-8B8B-D182A28C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AC816-28CA-4411-AD7F-EA3D5971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Benchmark Observatory · Ascend NPU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DAAAF-CC83-48A5-866B-6D943131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6059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597D3-CDD4-4C14-9B5F-A6AFE822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02 · 覆盖范围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00299-A246-4B58-95F4-F35C33C2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两层模型集合：社区稳定看护 + 内部优化全集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5EF72-B618-460B-83A8-CB677060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weekly 保持完整覆盖，daily 选择更快的代表性集合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11EE3-71FA-4D38-A72D-4BD5D016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731EE-CAFE-446D-B4CC-0FF73D83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269F1-A463-4012-86B2-FE9D0A62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内部 weekly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7A32B-8497-40BA-8EF8-869A4A00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384AF-CFC4-4D3C-8B7B-45299EC8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67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03C38-4B37-49B2-B657-DA0EE3CD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rPr>
              <a:t>TorchBench 85 · HuggingFace 51 · TIMM 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8FC1D-05B4-4682-AF0A-A041409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5334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480E2-9BD8-4B62-82AF-518782EB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社区对外集合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23244-3F81-4F8A-9504-113C6917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71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35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106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E5804-2F93-4667-9942-83BB95DB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个稳定看护模型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B1B7A-4AD7-4D26-9DB8-C2D3E38B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对齐社区列表、模式和特化，作为外部可比口径。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764A6-14ED-421F-B6D4-790FB35B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4A448-18CF-4357-B07C-1E061C19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daily：代表性集合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E2FF4-0E34-4077-8FF9-EA841E96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7685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DACE1-7854-4AF2-B830-5087637C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weekly：154 全量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89993-CEC9-4C7B-83D8-87961D1E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76850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F20DC-E513-425D-878F-164D41A4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340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同一套配置可复用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38ADE-E8E3-4F6E-93FB-2DE5E6AA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E3744-9585-41E6-A5E2-DEB7DBF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Benchmark Observatory · Ascend NPU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0BBEE-7AE5-4DD8-9C35-E6827D61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8088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9A0BB3-1091-4DEB-BEFB-9FFA8C2B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03 · 流水架构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88AA3-1F1E-4CDC-AAB0-2181D17E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从配置到看板的一条可追踪链路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AF25D-4146-4313-B7E7-DD0E1597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每一次运行都带日期、版本、后端、模式和模型集合信息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C54C9-34AE-4997-A192-C3E9C054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BC8FF-9DCE-4A18-9F7A-48E53F44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A622E-DE49-4C28-9647-699E8DBB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885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2A6C8-D735-4A95-8FDB-E7141195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模型集合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902A5-4F66-4691-ACA8-1C751591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model_sets.yaml</a:t>
            </a:r>
          </a:p>
          <a:p xmlns:a="http://schemas.openxmlformats.org/drawingml/2006/main">
            <a: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 daily / weekly / community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5E1EE-6564-4075-9EA4-A4A02FB4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528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C221F-4169-47DD-B8F6-1AA74CC0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86125"/>
            <a:ext cx="85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4BB29-1497-4ECB-9B12-87442D77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860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3B783-E176-42AD-BF7C-D7BBC6FC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86050"/>
            <a:ext cx="1885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62B86-31E3-4BDA-A3FD-B15024EF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环境 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3A890-5EF8-46C1-B4AD-0B389E12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2.13 / 2.15</a:t>
            </a:r>
          </a:p>
          <a:p xmlns:a="http://schemas.openxmlformats.org/drawingml/2006/main">
            <a: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独立 cache 与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DF2D7-156D-4130-92DB-EB568534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1F758-F059-4292-8BFD-E23187D8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86125"/>
            <a:ext cx="85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CD2D2-1A91-41D0-A91B-076F1553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75C76-2482-4E4E-8B8C-1F7CF26E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1885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57419-F39A-48D0-BBE0-A4E9629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9DAB6-08CB-4725-BAFF-0D2F7B62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480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DVM / Triton-Ex</a:t>
            </a:r>
          </a:p>
          <a:p xmlns:a="http://schemas.openxmlformats.org/drawingml/2006/main">
            <a: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train / 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F3232-CECE-446A-A604-7E8D9652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D9843-D6D5-409A-AC9D-9E3AC93E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85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32B64-E0EA-4592-B47A-49F0BC94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F9484-92DF-4FD2-A863-CC9E8D0C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1885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A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625E9-94E0-4487-96A2-241F69A3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6F48B2-D223-4625-9970-D08E865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log + E2E + OP</a:t>
            </a:r>
          </a:p>
          <a:p xmlns:a="http://schemas.openxmlformats.org/drawingml/2006/main">
            <a: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轻量 profiler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A27B1-CD93-41FB-A5BA-DBD8C17E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DE2D43-9A2F-49AF-BFAA-1AA4AB4B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86125"/>
            <a:ext cx="85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21CB31-601B-4FF9-8A06-3D59BF6E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82CE1C-C99E-4B15-BD67-05480614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1885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94B1D6-5F1F-4751-B26A-EA306F94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908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发布层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14D5A7-17BF-4BE3-9B62-4E251644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480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按日期与版本 JSON</a:t>
            </a:r>
          </a:p>
          <a:p xmlns:a="http://schemas.openxmlformats.org/drawingml/2006/main">
            <a:pPr>
              <a:def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脱敏错误摘要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0DCCBF-AE4F-49A9-A7E7-71048D3F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关键改进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F15DC4-B914-47F7-8A0D-142C49F4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768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同一天可以并列多个 PTA 版本；历史日期不被覆盖；失败信息只展示脱敏摘要，不暴露服务器路径。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742326-273D-4F52-92BD-1AF909C9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3973E3-7F02-4A66-9E7C-2241AA4A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Benchmark Observatory · Ascend NPU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2D84A2-596C-4D19-889A-1603B13A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5449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6B660-C8F9-4C2F-B6C1-7CA0D880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04 · 执行矩阵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8200F-D924-4C97-97A6-3A5CBC21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同一模型要回答四个问题：能不能跑、准不准、快不快、为什么失败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66DB0-C5AD-4979-8D2F-D405114E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把后端、执行模式和模型特化显式化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9124E-6161-499B-B137-8A72D5C5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C646D-72E3-4C7C-AFB1-DDCC4183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7ADA8-05FA-4FFC-A3B6-AEF66AD8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E0750-0173-481C-AC3F-8CCEF33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0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DVM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38E5B-01EC-4AD8-AC01-AD28FE26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Triton-Experimental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2D204-6E23-4CA9-BAE4-9CA3495F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6839E-7790-4664-9400-57B77604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B8C90-4014-4030-9FA7-8205A5DB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train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BD697-A8F3-4BEA-8717-43ED2DA2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inference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30CFF-32EF-4223-99C2-AC1F8A1F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C4DD4-DC85-4E9F-9B07-1116B382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图模式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758D4-94F6-4EE9-BF89-B7D025B9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dynamic 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86675-202A-4072-96B3-28915A8F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dynamic on（按需）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0D90E-CE7B-44D1-B4A5-E022C3E6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EFE7B-42FE-4B72-8327-B3375C51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图加速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D9EC5-F312-4537-B8C6-68A2E653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00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ACLGraph 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85037-C1CC-47F8-AD95-F6071B11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按专项开启验证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9B598-C38A-498D-8008-9709392B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8CFE5-15F5-40FF-A002-FF398203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F47F1-BDA0-4986-914C-91CBFAE9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E2E / OP / accuracy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967D54-65DA-47A2-BB05-51CCCCC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52536"/>
                </a:solidFill>
                <a:latin typeface="Microsoft YaHei"/>
                <a:ea typeface="Microsoft YaHei"/>
                <a:cs typeface="Microsoft YaHei"/>
              </a:rPr>
              <a:t>GPU baseline / error class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3CCC0A-A0B9-43FA-9D3F-1ECF339D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001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6D2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16B14-B919-487F-88CA-DBCE4069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配置策略：能跟随社区的 train-only / inference-only / tolerance 先跟随；NPU 专属项进入对应 profile 或 override。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72FB6E-FC0D-44BA-92D0-C49D2D47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9E04F2-676A-480E-A2A5-D9C40843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Benchmark Observatory · Ascend NPU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03D4C-7FE5-47C2-916E-8CF1D261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0119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9CDB7-E32D-4016-80C4-1226CFFA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05 · 工程工作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F691D-6541-4133-BE31-10368C12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把难点拆成可复用的能力，而不是临时改脚本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54ACA-9340-4BE3-9D57-CFC3D6C1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围绕兼容、数据、诊断和复现四条线推进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812F2-8D50-4343-A6AE-BD969A5E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A5343-1F2F-43A8-A0ED-10EFC83B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D792E-9DF3-4991-9E7D-FA8305F5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91C63-0469-4B64-A7F5-EA178FB1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YAML / 元数据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7B256-BCF0-413D-95F1-25B861EC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兼容社区 benchmark 配置；支持 2.13 与 2.15 profile；保留 NPU override。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B5F8F-9D60-4B04-802E-89E9046E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D66F4-F519-4448-B6C3-E8D6D17D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48AA9-1EA1-4425-ABA8-B3C2FDEA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离线缓存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6E769-ABD0-4D27-AD13-89C4FA87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沉淀 HuggingFace / TIMM 权重与 tokenizer，减少网络波动导致的假失败。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9BE05-11B8-4D5A-8B33-E6FB7FFD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7A694-33ED-4B08-B010-2AD412D8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BD6B8-C502-4601-B805-E86D67C2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轻量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1489F-3188-4BB8-A55E-A215535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用 warmup / active 窗口采集可用的 OP 与 E2E 数据，控制产物体积和运行时长。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6B2D0-28BB-4E22-980C-CF6AA12C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4953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74547-AF79-4C7C-8329-809E0FD8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48887-9FAF-4B96-9FAF-E9CCCBCE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失败诊断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43AB1A-853A-45F2-8C7D-0A4DC055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95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错误按网络、数据、OOM、timeout、compile、accuracy 分类，并在网页脱敏展示。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90EE9-9D14-4B98-8331-4B2FE819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88DFA-1825-4B7D-9691-304020B6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Benchmark Observatory · Ascend NPU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88926-69D3-4F1A-BEC9-73EABF5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1562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93C8B8-B175-499A-A873-0A2F9151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06 · 已形成的证据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D621F-8A52-4254-892A-21B09FAD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结果不只看 pass 数，也看运行规模、可复现性和数据完整性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AC38C-C6AC-43F9-9651-0B709494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下面是已确认的流水与环境证据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61DEA-6E3A-4401-B00D-175E2BF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C8CBF-31EE-4A61-A8DF-8489823B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weekly 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8920C-7A96-42A2-A079-84EDAB42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7F630-42A3-47B4-9881-A40A5DE9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9810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A1778-3BE5-489D-A270-6EBABD81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7FD30-956F-4807-83C8-99BBBC5E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weekly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72CDD-9ABC-439E-8F31-425089C4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7A96C-AB46-4674-9B3C-F9D3EEB9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98245-460C-464A-891D-49BE31C2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242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524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16583-76F3-4FE9-B2AB-8A02B667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daily40 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36C85-A56A-41F8-9E72-320616CB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95700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8DEBE-9E43-456A-A3BE-9731ACDC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95700"/>
            <a:ext cx="2571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E15C49-A37C-4F66-97A1-A9ED1250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76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844C4-BAB1-488D-A431-957AEA56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daily40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2F2FF-B761-49E5-A099-0C32448C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48150"/>
            <a:ext cx="33337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63674-4A37-470C-B582-5AA4A8B2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48150"/>
            <a:ext cx="9048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A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53189-A23F-4BAB-8818-8C241FD2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29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7ADD6-1F17-48A5-AD8E-BC9E51F5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8B8D"/>
                </a:solidFill>
                <a:latin typeface="Microsoft YaHei"/>
                <a:ea typeface="Microsoft YaHei"/>
                <a:cs typeface="Microsoft YaHei"/>
              </a:rPr>
              <a:t>规模证据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64D6C-CFD0-43AA-80BB-A7CD3B27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weekly-full：154 模型 / 524 case</a:t>
            </a:r>
          </a:p>
          <a:p xmlns:a="http://schemas.openxmlformats.org/drawingml/2006/main">
            <a:pPr>
              <a:def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B6B7A"/>
                </a:solidFill>
                <a:latin typeface="Microsoft YaHei"/>
                <a:ea typeface="Microsoft YaHei"/>
                <a:cs typeface="Microsoft YaHei"/>
              </a:rPr>
              <a:t>20261015 daily40：40 模型 / 142 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86719-0050-4F6E-B7C3-C7EA12C3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48387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24312F-60A2-4B3D-994F-43B026D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2.15 环境已具备复用条件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84AF6F-C285-47A8-8C09-163DACE6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400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rPr>
              <a:t>torch 2.15 dev</a:t>
            </a:r>
          </a:p>
          <a:p xmlns:a="http://schemas.openxmlformats.org/drawingml/2006/main">
            <a:pPr>
              <a:def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rPr>
              <a:t>torch_npu 2.15</a:t>
            </a:r>
          </a:p>
          <a:p xmlns:a="http://schemas.openxmlformats.org/drawingml/2006/main">
            <a:pPr>
              <a:def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rPr>
              <a:t>torchvision 0.28</a:t>
            </a:r>
          </a:p>
          <a:p xmlns:a="http://schemas.openxmlformats.org/drawingml/2006/main">
            <a:pPr>
              <a:def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rPr>
              <a:t>triton / triton-ascend 3.6</a:t>
            </a:r>
          </a:p>
          <a:p xmlns:a="http://schemas.openxmlformats.org/drawingml/2006/main">
            <a:pPr>
              <a:def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rPr>
              <a:t>CANN 9.2.0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D590F-E882-419C-942C-4B0DDFF3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24400"/>
            <a:ext cx="2247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A9988-6589-4878-AB9D-5F4B833C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815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2.13 / 2.15 profile 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9D8EB2-AD20-403D-BA35-E5334792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157EB-2557-4C7A-9E0B-F3751F3C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Benchmark Observatory · Ascend NPU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44C24-0971-4DD6-BDDB-CE37439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i="0">
                <a:solidFill>
                  <a:srgbClr val="8493A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71943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66FD3-D145-437F-A9B8-1D9067EB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i="0">
                <a:solidFill>
                  <a:srgbClr val="91D7D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 i="0">
                <a:solidFill>
                  <a:srgbClr val="91D7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91D7D5"/>
                </a:solidFill>
                <a:latin typeface="Microsoft YaHei"/>
                <a:ea typeface="Microsoft YaHei"/>
                <a:cs typeface="Microsoft YaHei"/>
              </a:rPr>
              <a:t>07 · 后续规划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C47F6-9EA6-44D1-A4CE-D8B04B3C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让流水更稳定，让数据更可信，让问题更快进入上游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75B01-449C-4FA2-8BDA-114E98D9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B35E7-09CD-42FD-8BA0-CEBD81AC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社区同步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992CA-0585-43F9-B0C1-D0EC26AC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rPr>
              <a:t>持续跟进社区 YAML、模型列表和模式口径，减少分叉。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D28F2-7AB0-4AC6-8878-FB8A876C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288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62FC9-2C07-4181-A092-88A2E8BC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版本并跑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DF732-C1DE-4356-B8EF-D9BCE0BA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rPr>
              <a:t>2.13 / 2.15 同日可切换，保留版本与 torch_npu commit 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26CF0-A958-44B0-B602-B4B02E35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7E39E-0673-4285-BBE5-EE0F6C7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失败收敛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21AD7-D9F6-4146-86AD-1146B71D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rPr>
              <a:t>优先消除网络、数据和架构类假失败，再看后端真实问题。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BCE68-F39F-43D8-B221-A3868BEB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9A5D8-F7D9-471A-AD07-517D587D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看板分层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CEC90-EAD0-491C-B7E6-DF47A5B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7D6E4"/>
                </a:solidFill>
                <a:latin typeface="Microsoft YaHei"/>
                <a:ea typeface="Microsoft YaHei"/>
                <a:cs typeface="Microsoft YaHei"/>
              </a:rPr>
              <a:t>外部社区 106 与内部 weekly 全量分层，支持更清晰的性能对比。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31FF4-BF4C-430A-9E2D-97BFC667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8EC71-890C-40DA-B5FC-36376759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DE8E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BDE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DE8E7"/>
                </a:solidFill>
                <a:latin typeface="Microsoft YaHei"/>
                <a:ea typeface="Microsoft YaHei"/>
                <a:cs typeface="Microsoft YaHei"/>
              </a:rPr>
              <a:t>结论：Benchmark 看护已经从“跑一次”进入“可配置、可复现、可比较、可沉淀”的阶段。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9D5BC-53D0-43E6-B9A4-7298C7E4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192846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2026-10-17T11:19:04.3520000Z</dcterms:created>
  <dcterms:modified xsi:type="dcterms:W3CDTF">2026-10-17T11:19:04.3520000Z</dcterms:modified>
</coreProperties>
</file>