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1ec13948c44532" /><Relationship Type="http://schemas.openxmlformats.org/officeDocument/2006/relationships/extended-properties" Target="/docProps/app.xml" Id="Re4a7c3d1acfc426e" /><Relationship Type="http://schemas.openxmlformats.org/officeDocument/2006/relationships/officeDocument" Target="/ppt/presentation.xml" Id="Reb19a37d5f0b4b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f9e075cfe47cb"/>
  </p:sldMasterIdLst>
  <p:notesMasterIdLst>
    <p:notesMasterId xmlns:r="http://schemas.openxmlformats.org/officeDocument/2006/relationships" r:id="R4e393c5cfd8046cd"/>
  </p:notesMasterIdLst>
  <p:sldIdLst>
    <p:sldId xmlns:r="http://schemas.openxmlformats.org/officeDocument/2006/relationships" id="256" r:id="R8e32e3d12e674d19"/>
    <p:sldId xmlns:r="http://schemas.openxmlformats.org/officeDocument/2006/relationships" id="257" r:id="R4363ff2fb12245ab"/>
    <p:sldId xmlns:r="http://schemas.openxmlformats.org/officeDocument/2006/relationships" id="258" r:id="Rb5aa5048c16c451b"/>
    <p:sldId xmlns:r="http://schemas.openxmlformats.org/officeDocument/2006/relationships" id="259" r:id="R48df1916ecd743a3"/>
    <p:sldId xmlns:r="http://schemas.openxmlformats.org/officeDocument/2006/relationships" id="260" r:id="R929f0cdfb8664f9e"/>
    <p:sldId xmlns:r="http://schemas.openxmlformats.org/officeDocument/2006/relationships" id="261" r:id="Rfec4e6599b0c4e6b"/>
    <p:sldId xmlns:r="http://schemas.openxmlformats.org/officeDocument/2006/relationships" id="262" r:id="Rd4cc61a9681c40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631f52962b4e45" /><Relationship Type="http://schemas.openxmlformats.org/officeDocument/2006/relationships/slideMaster" Target="/ppt/slideMasters/slideMaster1.xml" Id="R2e3f9e075cfe47cb" /><Relationship Type="http://schemas.openxmlformats.org/officeDocument/2006/relationships/notesMaster" Target="/ppt/notesMasters/notesMaster1.xml" Id="R4e393c5cfd8046cd" /><Relationship Type="http://schemas.openxmlformats.org/officeDocument/2006/relationships/presProps" Target="/ppt/presProps.xml" Id="Rad6cb9cba1f94f95" /><Relationship Type="http://schemas.openxmlformats.org/officeDocument/2006/relationships/tableStyles" Target="/ppt/tableStyles.xml" Id="R7c28e0ba34a84e7b" /><Relationship Type="http://schemas.openxmlformats.org/officeDocument/2006/relationships/slide" Target="/ppt/slides/slide1.xml" Id="R8e32e3d12e674d19" /><Relationship Type="http://schemas.openxmlformats.org/officeDocument/2006/relationships/slide" Target="/ppt/slides/slide2.xml" Id="R4363ff2fb12245ab" /><Relationship Type="http://schemas.openxmlformats.org/officeDocument/2006/relationships/slide" Target="/ppt/slides/slide3.xml" Id="Rb5aa5048c16c451b" /><Relationship Type="http://schemas.openxmlformats.org/officeDocument/2006/relationships/slide" Target="/ppt/slides/slide4.xml" Id="R48df1916ecd743a3" /><Relationship Type="http://schemas.openxmlformats.org/officeDocument/2006/relationships/slide" Target="/ppt/slides/slide5.xml" Id="R929f0cdfb8664f9e" /><Relationship Type="http://schemas.openxmlformats.org/officeDocument/2006/relationships/slide" Target="/ppt/slides/slide6.xml" Id="Rfec4e6599b0c4e6b" /><Relationship Type="http://schemas.openxmlformats.org/officeDocument/2006/relationships/slide" Target="/ppt/slides/slide7.xml" Id="Rd4cc61a9681c40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f04ae8e794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3a674641a242ab" /><Relationship Type="http://schemas.openxmlformats.org/officeDocument/2006/relationships/notesMaster" Target="/ppt/notesMasters/notesMaster1.xml" Id="Rb83e45d2941344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d90ca682024609" /><Relationship Type="http://schemas.openxmlformats.org/officeDocument/2006/relationships/notesMaster" Target="/ppt/notesMasters/notesMaster1.xml" Id="R123dedd83c3f4d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f754935517474c" /><Relationship Type="http://schemas.openxmlformats.org/officeDocument/2006/relationships/notesMaster" Target="/ppt/notesMasters/notesMaster1.xml" Id="R5ee8096db3b640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0ca83d4d7469a" /><Relationship Type="http://schemas.openxmlformats.org/officeDocument/2006/relationships/notesMaster" Target="/ppt/notesMasters/notesMaster1.xml" Id="Rc78dae6bff7943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f92fcaa8e64877" /><Relationship Type="http://schemas.openxmlformats.org/officeDocument/2006/relationships/notesMaster" Target="/ppt/notesMasters/notesMaster1.xml" Id="Rd27c77debb2944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5718317b7c4532" /><Relationship Type="http://schemas.openxmlformats.org/officeDocument/2006/relationships/notesMaster" Target="/ppt/notesMasters/notesMaster1.xml" Id="Ra393f3337f1140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3771c7fda54639" /><Relationship Type="http://schemas.openxmlformats.org/officeDocument/2006/relationships/notesMaster" Target="/ppt/notesMasters/notesMaster1.xml" Id="R9a7ceb42ac844b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b5d0e3cfa4e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95483d32d345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9059c3ba248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164f4d2dc42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c6c96d99e4a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138d5bd2f46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DCBBD3-90AE-4033-AA46-2B9F7CBE25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BC69C0-1594-41F3-B7BE-1DF4480B27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DA51BD-8E03-4D56-9F5F-2C637EEECE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7BA8B8-2BE3-4481-AF9E-21F98A83AB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AE2054-5C4C-4F81-BD62-BDDB110D95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D23BDB-3796-4AE4-9313-51D7AF50ED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6623C0-A8C3-4820-ACA7-1A6CE8E067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28ECB93-D997-45D0-9A8F-4797914009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122219-214C-4C32-B61F-B15D097DA8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88ECBA-5DB8-42C7-A144-496C767CB8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4ad6e45ba04764" /><Relationship Type="http://schemas.openxmlformats.org/officeDocument/2006/relationships/slideLayout" Target="/ppt/slideLayouts/slideLayout1.xml" Id="R41bc6748d2234629" /><Relationship Type="http://schemas.openxmlformats.org/officeDocument/2006/relationships/slideLayout" Target="/ppt/slideLayouts/slideLayout2.xml" Id="R14edde78aaee4e4c" /><Relationship Type="http://schemas.openxmlformats.org/officeDocument/2006/relationships/slideLayout" Target="/ppt/slideLayouts/slideLayout3.xml" Id="Rd85e0a54cd974819" /><Relationship Type="http://schemas.openxmlformats.org/officeDocument/2006/relationships/slideLayout" Target="/ppt/slideLayouts/slideLayout4.xml" Id="R2a69ee14cdfb4fe9" /><Relationship Type="http://schemas.openxmlformats.org/officeDocument/2006/relationships/slideLayout" Target="/ppt/slideLayouts/slideLayout5.xml" Id="R765edeb0b07d4b75" /><Relationship Type="http://schemas.openxmlformats.org/officeDocument/2006/relationships/slideLayout" Target="/ppt/slideLayouts/slideLayout6.xml" Id="R047e9230fd4148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bc6748d2234629"/>
    <p:sldLayoutId xmlns:r="http://schemas.openxmlformats.org/officeDocument/2006/relationships" id="2147483650" r:id="R14edde78aaee4e4c"/>
    <p:sldLayoutId xmlns:r="http://schemas.openxmlformats.org/officeDocument/2006/relationships" id="2147483651" r:id="Rd85e0a54cd974819"/>
    <p:sldLayoutId xmlns:r="http://schemas.openxmlformats.org/officeDocument/2006/relationships" id="2147483652" r:id="R2a69ee14cdfb4fe9"/>
    <p:sldLayoutId xmlns:r="http://schemas.openxmlformats.org/officeDocument/2006/relationships" id="2147483653" r:id="R765edeb0b07d4b75"/>
    <p:sldLayoutId xmlns:r="http://schemas.openxmlformats.org/officeDocument/2006/relationships" id="2147483654" r:id="R047e9230fd4148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f459885764cb7" /><Relationship Type="http://schemas.openxmlformats.org/officeDocument/2006/relationships/notesSlide" Target="/ppt/notesSlides/notesSlide1.xml" Id="Rbe5a316cd80341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c75c1197254bea" /><Relationship Type="http://schemas.openxmlformats.org/officeDocument/2006/relationships/notesSlide" Target="/ppt/notesSlides/notesSlide2.xml" Id="Ra9258390cdde4f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e66dfce2d49b7" /><Relationship Type="http://schemas.openxmlformats.org/officeDocument/2006/relationships/notesSlide" Target="/ppt/notesSlides/notesSlide3.xml" Id="Rc566da7d79d94d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e093e987b4435" /><Relationship Type="http://schemas.openxmlformats.org/officeDocument/2006/relationships/notesSlide" Target="/ppt/notesSlides/notesSlide4.xml" Id="Rb2b575a26c1341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0b31e62f364069" /><Relationship Type="http://schemas.openxmlformats.org/officeDocument/2006/relationships/notesSlide" Target="/ppt/notesSlides/notesSlide5.xml" Id="R520788bcf7894f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692d1034144a04" /><Relationship Type="http://schemas.openxmlformats.org/officeDocument/2006/relationships/notesSlide" Target="/ppt/notesSlides/notesSlide6.xml" Id="Rbb87fd6887a540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24a5a83d394792" /><Relationship Type="http://schemas.openxmlformats.org/officeDocument/2006/relationships/notesSlide" Target="/ppt/notesSlides/notesSlide7.xml" Id="R9deb77a8a2e44b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60F84-AF94-4D18-BB19-420F62E0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AA40F-BFA5-4248-B000-7CEC7BA2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答辩材料 · 训练正确性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4186D-3285-46DE-BB35-CEAACFEB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triton_experimental</a:t>
            </a:r>
          </a:p>
          <a:p xmlns:a="http://schemas.openxmlformats.org/drawingml/2006/main">
            <a:pPr>
              <a:lnSpc>
                <a:spcPct val="9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训练正确性方案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889B7-096D-41B8-BA15-A0EB4D60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从随机状态恢复，到训练回归矩阵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65288-F86C-4BA0-BEE6-D15613EF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核心关注：编译、重算、图执行之间，训练结果是否仍然可信。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66037-406C-4D9D-9FD4-CD7C9A8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0930A-4217-4762-AAD8-80AF0CA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>
            <a:defPPr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F9770-8BD5-4200-90D7-1F843DD8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478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状态可重放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D48FE-C9E7-44C3-9AEA-3D4C0155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EEC41A-9EF6-4C7D-B0B9-6EC26C5D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95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>
            <a:defPPr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REDUCE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A1F1F-8043-4676-B4EB-36E465F0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固定归约顺序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8E1E9-E73E-4C7E-9A8A-732BB9DD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52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8FAE0-B4EB-400B-B74D-73416A96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71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>
            <a:defPPr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758EC-DBC5-4539-8FEB-C3873CA1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00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保存与反传一致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D034A-6D82-4474-89B8-EBFE633C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CE8D70-A54C-4B49-9B97-4D960AD6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>
            <a:defPPr>
              <a:defRPr sz="11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REGRESSION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16810-4A6B-4C3A-95E3-F4D30DC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76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3016"/>
          </a:bodyPr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训练矩阵闭环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22492-C689-4BF7-B0FB-B46D085F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>
            <a:defPPr>
              <a:def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面向评审的脱敏版本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9BFFF-7B2C-4DF5-944E-4AB1A22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03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2222"/>
          </a:bodyPr>
          <a:lstStyle xmlns:a="http://schemas.openxmlformats.org/drawingml/2006/main">
            <a:defPPr algn="r">
              <a:def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2026 Q4</a:t>
            </a:r>
          </a:p>
        </p:txBody>
      </p:sp>
    </p:spTree>
    <p:extLst>
      <p:ext uri="{BB962C8B-B14F-4D97-AF65-F5344CB8AC3E}">
        <p14:creationId xmlns:p14="http://schemas.microsoft.com/office/powerpoint/2010/main" val="2104626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944D8-7B4D-4159-8116-6B56CB785B1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191500" y="3771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B33DE-32A1-4991-8C5E-4CFF443D4ED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7191375" y="2686050"/>
            <a:ext cx="257175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C2626"/>
            </a:solidFill>
            <a:prstDash val="solid"/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3541D-AA2D-42E7-A87F-CC427D09065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191500" y="22479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4BE602-F472-4006-91EA-1CD53B50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 · 为什么要做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FA7A5-ECCC-4C4F-B141-39709F95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训练正确性的关键：状态可重放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6E6AC-3528-4344-83A3-5A959AA6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741DA-E4B2-414C-84E8-9589639C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518E1-24C0-48CE-B1D1-93F47B18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650"/>
          </a:bodyPr>
          <a:lstStyle xmlns:a="http://schemas.openxmlformats.org/drawingml/2006/main">
            <a:defPPr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同一输入不等于同一结果。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训练还依赖一份隐藏状态：RNG state。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3AF8D7-A095-418B-8F4A-3577C9E5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119"/>
          </a:bodyPr>
          <a:lstStyle xmlns:a="http://schemas.openxmlformats.org/drawingml/2006/main">
            <a:defPPr>
              <a:defRPr sz="12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当 checkpoint 触发前向重算时，如果重算拿到的是另一段随机序列，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2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输出看似能跑通，梯度却已经偏离原始前向。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35A5E-186A-4E9B-8E90-85BC8BF6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95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4288">
            <a:solidFill>
              <a:srgbClr val="B7CCF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同一输入 + 同一 RNG state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= 同一 mask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= 可比较的输出与梯度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32129-7FA6-4CD5-A290-E10D1BBA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RNG state 不是业务张量，但会改变随机算子的结果。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57B19-85B9-46DC-B0A9-DEB44597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原始前向</a:t>
            </a:r>
          </a:p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生成 dropout mask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7C237-FEB0-4695-B3D4-ACA967ED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释放并重算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2FC77-5259-4B8D-8500-99CD9C80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重算读取</a:t>
            </a:r>
          </a:p>
          <a:p xmlns:a="http://schemas.openxmlformats.org/drawingml/2006/main">
            <a:pPr algn="ctr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另一段随机序列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C6E3D-3363-4D2A-B335-082FFDF5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梯度路径</a:t>
            </a:r>
          </a:p>
          <a:p xmlns:a="http://schemas.openxmlformats.org/drawingml/2006/main">
            <a:pPr algn="ctr"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发生偏移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6CF05-D612-4694-9EFA-37E57899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>
            <a:defPPr algn="ctr"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正确性断点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9E5AA-E3D8-4F3F-A408-1BF30F40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596"/>
          </a:bodyPr>
          <a:lstStyle xmlns:a="http://schemas.openxmlformats.org/drawingml/2006/main">
            <a:defPPr algn="ctr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要修复的不是 dropout 本身，而是随机状态在编译与重算链路中的传递。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3D0BE-9286-4AE9-A1D3-89AD3545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25686-0852-4EFB-985E-662B99A1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636"/>
          </a:bodyPr>
          <a:lstStyle xmlns:a="http://schemas.openxmlformats.org/drawingml/2006/main">
            <a:def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triton_experimental · 训练正确性答辩</a:t>
            </a:r>
          </a:p>
        </p:txBody>
      </p:sp>
    </p:spTree>
    <p:extLst>
      <p:ext uri="{BB962C8B-B14F-4D97-AF65-F5344CB8AC3E}">
        <p14:creationId xmlns:p14="http://schemas.microsoft.com/office/powerpoint/2010/main" val="7625207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7F0BB-C61B-4655-AAFB-5709978975F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582150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8D9AF-B2A9-44B5-9054-58BD86EE4E4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53350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CE519-3934-4D5D-AA4D-6E42391AD75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24550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E4EF2-AC78-4016-A0C2-B35DEC14180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824A3-5F36-40DD-9702-79E01319344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31813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AA1924-4A92-41DE-A484-935739A3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 · 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0F7D3-FF6B-4AE9-BC0E-545031A6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主链路：随机算子在编译图中的走法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D1474-552F-4009-9F33-6BE200D1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F7FAD-5FF4-4546-9485-87A0EF0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D3DBD-788D-4A56-AB61-36487629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630"/>
          </a:bodyPr>
          <a:lstStyle xmlns:a="http://schemas.openxmlformats.org/drawingml/2006/main">
            <a:def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核心思路：把 seed、offset 与 GeneratorState 作为编译图可见的状态，</a:t>
            </a:r>
          </a:p>
          <a:p xmlns:a="http://schemas.openxmlformats.org/drawingml/2006/main">
            <a: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让前向、重算和 replay 使用同一套状态边界。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B6D4C-4684-41C0-A45E-141FC2F5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训练代码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dropout / 随机算子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1E8F5-CB91-4358-99F6-BFB1C6B6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479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torch.compile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Dynamo + AOTAutograd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041C1-B629-45E4-A08A-E92E7FA6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graphsafe RNG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保存 / 恢复状态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95FCD-9F1E-41DD-930F-05729876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seed + offset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Philox 式消费位置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5CD22-B922-4CE1-B3EE-C676E49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GeneratorState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NPU state 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828EE-C18E-4CC8-BFAE-5A605CCD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47950"/>
            <a:ext cx="1657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4288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TE 编译执行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lowering + NPU kernel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2719C-9262-435A-A861-C31836F9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源码落点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DB90A-C250-4C57-BD8E-678E216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62CEA-2749-4AE6-A016-BB075B26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公共 RNG 适配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454EA-4CA4-49F3-BF38-AB81DBE9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torch_npu/utils/_inductor.py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DEB90-FD11-436F-A1A5-DB5B645C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625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DEC7E-ED58-4A99-9EEE-052D5446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24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>
            <a:def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GeneratorState 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0FAAE-6F5E-4EF1-BEFA-5C439D00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10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torch_npu/_inductor/_npu_meta_registration.py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88DBCB-DD0D-463C-B1AF-2FB6F48E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A63DDD-E3A4-407E-85DE-23D1338B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24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4583"/>
          </a:bodyPr>
          <a:lstStyle xmlns:a="http://schemas.openxmlformats.org/drawingml/2006/main">
            <a:defPPr>
              <a:def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TE lowering 入口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CECA9D-94AA-4BF0-B80E-0E5C0B67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10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torch_npu/_inductor/triton_experimental/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A8CDCC-06D4-4DE3-A6B9-6984E656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边界：TE 负责生成和调度 NPU kernel；RNG state 的正确性主要由 Inductor 编译链负责。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7C79BF-B013-4EC2-A34D-8197DB04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AC9270-C0AE-4AAB-B226-42E8C605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636"/>
          </a:bodyPr>
          <a:lstStyle xmlns:a="http://schemas.openxmlformats.org/drawingml/2006/main">
            <a:def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triton_experimental · 训练正确性答辩</a:t>
            </a:r>
          </a:p>
        </p:txBody>
      </p:sp>
    </p:spTree>
    <p:extLst>
      <p:ext uri="{BB962C8B-B14F-4D97-AF65-F5344CB8AC3E}">
        <p14:creationId xmlns:p14="http://schemas.microsoft.com/office/powerpoint/2010/main" val="446907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1781A3-8189-4B44-BD03-F0E081D2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 · 代码实现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AD60C-0111-465C-86BE-E148C32E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当前 patch 的核心落点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908CD-C68D-4985-9A74-053D6F8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14848-ACAB-4483-B684-9A8F66D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C3817-11C8-47E6-8022-90D188A3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改动围绕三件事展开：让 NPU state 能被识别、能被复制、能避开 CUDA-only 断点。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DF791-F12E-44FB-BF3D-BAC535C3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B9933-1380-4754-8D2C-8CB6BEE0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205"/>
          </a:bodyPr>
          <a:lstStyle xmlns:a="http://schemas.openxmlformats.org/drawingml/2006/main">
            <a:defPPr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306DE-3BC6-4721-BFA0-24383967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19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NPU RNG helper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44DE0-56B6-4BA7-AF42-FF27E040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torch_npu/utils/_inductor.py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395D0-889F-45B8-B325-51C5409B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914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4288">
            <a:solidFill>
              <a:srgbClr val="E8F0FF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补齐 seed、offset、state tuple 的 NPU 语义。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 functionalized RNG 在编译期拿到可消费的状态。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9AF94-089C-41C0-90BF-7521635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526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E97C56-892E-4139-8239-B1DAE50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19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205"/>
          </a:bodyPr>
          <a:lstStyle xmlns:a="http://schemas.openxmlformats.org/drawingml/2006/main">
            <a:defPPr>
              <a:def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0370B-FCE0-4296-8317-C59A42C8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GeneratorState 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DE41D-8C71-49EA-A962-2F826DB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908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torch_npu/_inductor/_npu_meta_registration.py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B960D-DC1D-4EF6-B980-913DA9FF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14750"/>
            <a:ext cx="2914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4288">
            <a:solidFill>
              <a:srgbClr val="E4F5F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93603"/>
          </a:bodyPr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在 GeneratorState 进入 Inductor 时，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按设备类型复制 NPU generator state，避免误走 CUDA 默认 generator。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E3AA3-BF10-445A-9E05-624F0ED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52650"/>
            <a:ext cx="2914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0FCE1-D14C-48A3-89CA-9EF68900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193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205"/>
          </a:bodyPr>
          <a:lstStyle xmlns:a="http://schemas.openxmlformats.org/drawingml/2006/main">
            <a:defPPr>
              <a:defRPr sz="19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2655F-8582-4BE6-B7BC-B6CDD9DB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TE lowering 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39231-8775-4CF1-A4A6-B4485CC1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291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torch_npu/_inductor/triton_experimental/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A27099-902E-4126-A1F5-8A20F087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29146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FFF1D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保持 graphsafe RNG 节点在正确 lowering 路径，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不让 NPU 随机算子整体落入 CUDA-only fallback。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68BD7-D021-4D84-8F43-1BAD6C1D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代码边界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BE8C0-0D1E-42D2-BFA9-DC250A52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518"/>
          </a:bodyPr>
          <a:lstStyle xmlns:a="http://schemas.openxmlformats.org/drawingml/2006/main">
            <a:defPPr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公共层只处理状态协议与设备分派，TE 后端继续负责 NPU kernel 生成。</a:t>
            </a:r>
          </a:p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这样既能先在 PTA 打通功能，也为后续社区解耦保留迁移空间。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5DAE7-266C-4BE4-AC1C-61B41256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1AACD-8EB7-4145-98A4-78DCBF5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636"/>
          </a:bodyPr>
          <a:lstStyle xmlns:a="http://schemas.openxmlformats.org/drawingml/2006/main">
            <a:def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triton_experimental · 训练正确性答辩</a:t>
            </a:r>
          </a:p>
        </p:txBody>
      </p:sp>
    </p:spTree>
    <p:extLst>
      <p:ext uri="{BB962C8B-B14F-4D97-AF65-F5344CB8AC3E}">
        <p14:creationId xmlns:p14="http://schemas.microsoft.com/office/powerpoint/2010/main" val="853972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29136F-E43E-4C4F-B037-EE041FF81C5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76850" y="494347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dash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88E02-ACC4-40FC-A27D-9861D40AD8F6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401050" y="2895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31001-C37B-4C3E-88BA-AF0EC02BD9D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695950" y="2895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75F9C-A14A-48CB-9254-E1653354AAA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28956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472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C30768-CBDB-4EEB-B2E1-33663DA1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 · 如何证明有效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6F53D-DF3D-4DBC-96F1-FB1DC435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验证闭环：从单元测试到训练模型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88D06-1BB5-4D00-80ED-6017D1A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A44BC-567F-47EE-A1FF-01ACB59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818D2-715F-4DF3-84FE-BB4D43A6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>
            <a:def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验证不是只看能不能编译，而是逐层确认状态、数值和训练行为。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61788-0D37-4A2C-8C87-B41B039A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状态 helper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seed / offset / state tuple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F2128-6F80-4405-976E-2CD4EF77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functionalized RNG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同 seed 重放一致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851C8-E634-458D-8CC4-B0875FB2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0030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checkpoint + dropout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mask 与输出可重算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7D8AE-5161-4738-A597-DFF1A86E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00300"/>
            <a:ext cx="238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4288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小模型训练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loss / grad 可比较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B2E8C-5B0E-4050-BCB3-701F1970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>
            <a:defPPr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每一层失败都能定位到不同责任边界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ADF31-6CF5-4C66-88C9-EC59D8DF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667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4288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当前验证口径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编译训练链路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checkpoint / dropout / 反向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3521E-12B2-4DC0-A0D6-D64B648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43400"/>
            <a:ext cx="4667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仍需单独确认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真实图 capture / replay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随机 kernel 的硬件图 ABI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3CCFC-C2D9-4ED9-8C7D-FAD8D46E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7531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>
            <a:defPPr algn="ctr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虚线表示后续验证边界，不代表当前编译链路不可用。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174FB-F873-4236-AF70-10F29B5F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E3CD4-6E38-4A8C-A325-4A29BC54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636"/>
          </a:bodyPr>
          <a:lstStyle xmlns:a="http://schemas.openxmlformats.org/drawingml/2006/main">
            <a:def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triton_experimental · 训练正确性答辩</a:t>
            </a:r>
          </a:p>
        </p:txBody>
      </p:sp>
    </p:spTree>
    <p:extLst>
      <p:ext uri="{BB962C8B-B14F-4D97-AF65-F5344CB8AC3E}">
        <p14:creationId xmlns:p14="http://schemas.microsoft.com/office/powerpoint/2010/main" val="27226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F4BAE-CB5C-4606-B6F7-4B71B3F02BA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86600" y="3571875"/>
            <a:ext cx="1162050" cy="1276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552E1F-689C-4D89-9A16-87171010695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86600" y="3571875"/>
            <a:ext cx="116205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B6472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95DBA-09B2-422F-A3E6-F0C518287E7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86600" y="2714625"/>
            <a:ext cx="11620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5B6472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04D4-6C76-4164-86AF-B2D5A99F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308"/>
          </a:bodyPr>
          <a:lstStyle xmlns:a="http://schemas.openxmlformats.org/drawingml/2006/main">
            <a:def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 · 整体需求拆分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4DF4C-9037-4AA0-94E5-4024E78B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四条工作线，最终汇聚到训练可信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8B39A-BEA7-4E6C-BE76-6E927426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00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487"/>
          </a:bodyPr>
          <a:lstStyle xmlns:a="http://schemas.openxmlformats.org/drawingml/2006/main">
            <a:def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94EED-9102-4BD5-90B8-3871F35F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9571E-F6B8-4780-B0D2-2218E6B8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>
            <a:def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四条工作线相互独立推进，但验收时需要在同一套训练场景中组合验证。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AAC0E-A073-4F8A-81CC-1DCE456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47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F0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随机状态可重放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保证随机算子在编译、重算与 replay 中保持同一状态语义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1FDA7-01D7-4CE5-9BBE-18229657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47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1D8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确定性归约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固定 reduction tree，规避 atomic 竞争带来的非确定性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AD0E5-FB16-4E26-A476-5A2616C3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477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4F5F1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保存值与反传一致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对齐 saved tensor、lazy backward 与二次 backward 的生命周期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99B6E-0271-4D15-89A5-13AE834C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5750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5F7EF"/>
          </a:solidFill>
          <a:ln xmlns:a="http://schemas.openxmlformats.org/drawingml/2006/main" w="14288">
            <a:solidFill>
              <a:srgbClr val="059669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95630"/>
          </a:bodyPr>
          <a:lstStyle xmlns:a="http://schemas.openxmlformats.org/drawingml/2006/main">
            <a:defPPr algn="ctr"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训练回归矩阵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checkpoint × AMP × 梯度累积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不同 batch / shape × 二次 backward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6A5AF-BD65-426B-A003-533A3F8E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27EE1-1BAA-44F0-917C-7C3B6DE0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578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>
            <a:defPPr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loss / grad 用 allclose 分级；关键随机 mask 与状态路径要求逐元素一致。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D6344-CFFA-4D44-B95F-36A51995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72001-E9E4-4039-887B-CEC50BF2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636"/>
          </a:bodyPr>
          <a:lstStyle xmlns:a="http://schemas.openxmlformats.org/drawingml/2006/main">
            <a:def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triton_experimental · 训练正确性答辩</a:t>
            </a:r>
          </a:p>
        </p:txBody>
      </p:sp>
    </p:spTree>
    <p:extLst>
      <p:ext uri="{BB962C8B-B14F-4D97-AF65-F5344CB8AC3E}">
        <p14:creationId xmlns:p14="http://schemas.microsoft.com/office/powerpoint/2010/main" val="1788564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6A5DD-6C3E-41A5-8672-4E9F6D0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368"/>
          </a:bodyPr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答辩可直接引用的结论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0216A-53BE-4C80-9044-09AF508A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333"/>
          </a:bodyPr>
          <a:lstStyle xmlns:a="http://schemas.openxmlformats.org/drawingml/2006/main">
            <a:defPPr>
              <a:defRPr sz="15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把“能跑”提升为“可解释、可复现、可回归”。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BC166-DCA3-4A50-9C12-3F1EF124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已经形成的主线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1537A-E1D4-450C-AE7E-E50938F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92133"/>
          </a:bodyPr>
          <a:lstStyle xmlns:a="http://schemas.openxmlformats.org/drawingml/2006/main">
            <a:defPPr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0" indent="-10">
              <a:lnSpc>
                <a:spcPct val="112000"/>
              </a:lnSpc>
              <a:spcAft>
                <a:spcPts val="1000"/>
              </a:spcAft>
              <a:buNone/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以 GeneratorState 为边界，把 NPU 随机状态纳入 Inductor 编译链路。</a:t>
            </a:r>
          </a:p>
          <a:p xmlns:a="http://schemas.openxmlformats.org/drawingml/2006/main">
            <a:pPr marL="20" indent="-10">
              <a:lnSpc>
                <a:spcPct val="112000"/>
              </a:lnSpc>
              <a:spcAft>
                <a:spcPts val="1000"/>
              </a:spcAft>
              <a:buNone/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以 seed / offset 表达随机消费位置，支持前向与 checkpoint 重算对齐。</a:t>
            </a:r>
          </a:p>
          <a:p xmlns:a="http://schemas.openxmlformats.org/drawingml/2006/main">
            <a:pPr marL="20" indent="-10">
              <a:lnSpc>
                <a:spcPct val="112000"/>
              </a:lnSpc>
              <a:spcAft>
                <a:spcPts val="1000"/>
              </a:spcAft>
              <a:buNone/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以分层测试验证 helper、编译图、训练输出和梯度，而不是只看编译成功。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D4337-3EF7-4723-B232-2AC769EC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>
            <a:defPPr>
              <a:defRPr sz="120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EE7B7"/>
                </a:solidFill>
                <a:latin typeface="Microsoft YaHei"/>
                <a:ea typeface="Microsoft YaHei"/>
                <a:cs typeface="Microsoft YaHei"/>
              </a:rPr>
              <a:t>下一步闭环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A0237-C1A2-4572-BF88-FD1F0E7A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14600"/>
            <a:ext cx="4667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0" indent="-10">
              <a:lnSpc>
                <a:spcPct val="112000"/>
              </a:lnSpc>
              <a:spcAft>
                <a:spcPts val="1000"/>
              </a:spcAft>
              <a:buNone/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补齐真实图 capture / replay 下的随机 kernel 验证。</a:t>
            </a:r>
          </a:p>
          <a:p xmlns:a="http://schemas.openxmlformats.org/drawingml/2006/main">
            <a:pPr marL="20" indent="-10">
              <a:lnSpc>
                <a:spcPct val="112000"/>
              </a:lnSpc>
              <a:spcAft>
                <a:spcPts val="1000"/>
              </a:spcAft>
              <a:buNone/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推进确定性归约、saved tensor 与 backward 对齐。</a:t>
            </a:r>
          </a:p>
          <a:p xmlns:a="http://schemas.openxmlformats.org/drawingml/2006/main">
            <a:pPr marL="20" indent="-10">
              <a:lnSpc>
                <a:spcPct val="112000"/>
              </a:lnSpc>
              <a:spcAft>
                <a:spcPts val="1000"/>
              </a:spcAft>
              <a:buNone/>
              <a:def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将四条工作线纳入统一的 checkpoint / AMP 训练回归矩阵。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98253-0D4F-4A80-B96D-F5A48F4B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A13D4-C63F-429A-9D03-15051250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>
            <a:defPPr>
              <a:defRPr sz="10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最终目标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6BD78-F61E-42AA-83AE-41970014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同一模型、同一输入、同一状态，在编译训练场景下得到可解释且可复现的结果。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D5270-0F1F-450D-A9DF-20A8363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8333"/>
          </a:bodyPr>
          <a:lstStyle xmlns:a="http://schemas.openxmlformats.org/drawingml/2006/main">
            <a:defPPr>
              <a:def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triton_experimental · 训练正确性方案</a:t>
            </a:r>
          </a:p>
        </p:txBody>
      </p:sp>
    </p:spTree>
    <p:extLst>
      <p:ext uri="{BB962C8B-B14F-4D97-AF65-F5344CB8AC3E}">
        <p14:creationId xmlns:p14="http://schemas.microsoft.com/office/powerpoint/2010/main" val="7683831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2026-10-17T10:12:18.7360000Z</dcterms:created>
  <dcterms:modified xsi:type="dcterms:W3CDTF">2026-10-17T10:12:18.7360000Z</dcterms:modified>
</coreProperties>
</file>